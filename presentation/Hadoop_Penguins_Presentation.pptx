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16x9"/>
  <p:notesSz cx="6858000" cy="9144000"/>
  <p:embeddedFontLst>
    <p:embeddedFont>
      <p:font typeface="Montserrat Bold" charset="1"/>
      <p:regular r:id="rId24"/>
    </p:embeddedFont>
    <p:embeddedFont>
      <p:font typeface="Montserrat" charset="1"/>
      <p:regular r:id="rId25"/>
    </p:embeddedFont>
    <p:embeddedFont>
      <p:font typeface="Public Sans" charset="1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Commands: hdfs dfs -mkdir -p, curl download, hdfs dfs -put -f, hdfs dfs -ls. fsck shows 1 block,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Gentoo 124 on Biscoe, Chinstrap 68 on Dream, Adelie on all three islands. Gentoo average 5076 g, 217 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Hive query 3c using SUM(CASE WHEN ... IS NULL).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2351"/>
            <a:ext cx="5437632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9AA294"/>
                </a:solidFill>
                <a:latin typeface="Montserrat Bold"/>
                <a:cs typeface="Montserrat Bold"/>
                <a:sym typeface="Montserrat Bold"/>
              </a:rPr>
              <a:t>BIG DATA WITH HADOOP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5958" y="2542398"/>
            <a:ext cx="7177674" cy="19488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88496"/>
              </a:lnSpc>
            </a:pPr>
            <a:r>
              <a:rPr sz="6048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Penguins on Hadoop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5958" y="4398219"/>
            <a:ext cx="7177674" cy="845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381"/>
              </a:lnSpc>
            </a:pPr>
            <a:r>
              <a:rPr sz="21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HDFS, Hive, WebHDFS ELT and PySpark on one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541264"/>
            <a:ext cx="3242828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806440"/>
            <a:ext cx="3242828" cy="3347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344 penguins, 8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4076" y="5541264"/>
            <a:ext cx="3242828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4076" y="5806440"/>
            <a:ext cx="3242828" cy="3347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Hadoop · Hive ·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078992"/>
            <a:ext cx="5669280" cy="4700016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3044952"/>
            <a:ext cx="4081882" cy="18288"/>
          </a:xfrm>
          <a:prstGeom prst="rect">
            <a:avLst/>
          </a:prstGeom>
          <a:solidFill>
            <a:srgbClr val="13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3447288"/>
            <a:ext cx="4081882" cy="18288"/>
          </a:xfrm>
          <a:prstGeom prst="rect">
            <a:avLst/>
          </a:prstGeom>
          <a:solidFill>
            <a:srgbClr val="13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3849624"/>
            <a:ext cx="4081882" cy="18288"/>
          </a:xfrm>
          <a:prstGeom prst="rect">
            <a:avLst/>
          </a:prstGeom>
          <a:solidFill>
            <a:srgbClr val="13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949440" y="1252728"/>
            <a:ext cx="4584192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949440" y="2123237"/>
            <a:ext cx="4584192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0" y="2993746"/>
            <a:ext cx="4584192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949440" y="3864254"/>
            <a:ext cx="4584192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949440" y="4734763"/>
            <a:ext cx="4584192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949440" y="5605272"/>
            <a:ext cx="4584192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5840" y="1664208"/>
            <a:ext cx="4370832" cy="8547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131513"/>
                </a:solidFill>
                <a:latin typeface="Montserrat"/>
                <a:cs typeface="Montserrat"/>
                <a:sym typeface="Montserrat"/>
              </a:rPr>
              <a:t>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362456"/>
            <a:ext cx="438912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1344168"/>
            <a:ext cx="3834384" cy="3243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HDFS command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32965"/>
            <a:ext cx="438912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214677"/>
            <a:ext cx="3834384" cy="3243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Hive table and HiveQL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103474"/>
            <a:ext cx="438912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085186"/>
            <a:ext cx="3834384" cy="3243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WebHDFS + Pandas ELT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973982"/>
            <a:ext cx="438912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3955694"/>
            <a:ext cx="3834384" cy="3243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PySpark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844491"/>
            <a:ext cx="438912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4826203"/>
            <a:ext cx="3834384" cy="3243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2000" b="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82698"/>
            <a:ext cx="8700211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9DBE8C"/>
                </a:solidFill>
                <a:latin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51584"/>
            <a:ext cx="8700211" cy="10803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6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HDFS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55283"/>
            <a:ext cx="5981395" cy="845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381"/>
              </a:lnSpc>
            </a:pPr>
            <a:r>
              <a:rPr sz="21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Create the folder, download, put,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749808"/>
            <a:ext cx="3915095" cy="2569464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3538728"/>
            <a:ext cx="3915095" cy="2569464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eckimg-9sh2rdrn.jpg"/>
          <p:cNvPicPr>
            <a:picLocks noChangeAspect="1"/>
          </p:cNvPicPr>
          <p:nvPr/>
        </p:nvPicPr>
        <p:blipFill>
          <a:blip r:embed="rId2"/>
          <a:srcRect t="7010" b="7010"/>
          <a:stretch>
            <a:fillRect/>
          </a:stretch>
        </p:blipFill>
        <p:spPr>
          <a:xfrm>
            <a:off x="713232" y="804672"/>
            <a:ext cx="3805367" cy="1837944"/>
          </a:xfrm>
          <a:prstGeom prst="rect">
            <a:avLst/>
          </a:prstGeom>
        </p:spPr>
      </p:pic>
      <p:pic>
        <p:nvPicPr>
          <p:cNvPr id="8" name="Picture 7" descr="deckimg-9o0fm9ay.jpg"/>
          <p:cNvPicPr>
            <a:picLocks noChangeAspect="1"/>
          </p:cNvPicPr>
          <p:nvPr/>
        </p:nvPicPr>
        <p:blipFill>
          <a:blip r:embed="rId3"/>
          <a:srcRect t="7010" b="7010"/>
          <a:stretch>
            <a:fillRect/>
          </a:stretch>
        </p:blipFill>
        <p:spPr>
          <a:xfrm>
            <a:off x="713232" y="3593592"/>
            <a:ext cx="3805367" cy="1837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04/16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34056"/>
            <a:ext cx="3805367" cy="22052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360" b="0">
                <a:solidFill>
                  <a:srgbClr val="131513"/>
                </a:solidFill>
                <a:latin typeface="Montserrat Bold"/>
                <a:cs typeface="Montserrat Bold"/>
                <a:sym typeface="Montserrat Bold"/>
              </a:rPr>
              <a:t>Dataset downloaded to the 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522976"/>
            <a:ext cx="3805367" cy="22052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360" b="0">
                <a:solidFill>
                  <a:srgbClr val="131513"/>
                </a:solidFill>
                <a:latin typeface="Montserrat Bold"/>
                <a:cs typeface="Montserrat Bold"/>
                <a:sym typeface="Montserrat Bold"/>
              </a:rPr>
              <a:t>Copied into HDFS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7247" y="2764048"/>
            <a:ext cx="5546385" cy="635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88496"/>
              </a:lnSpc>
            </a:pPr>
            <a:r>
              <a:rPr sz="3944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Download and 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img-fscdsjh_.jpg"/>
          <p:cNvPicPr>
            <a:picLocks noChangeAspect="1"/>
          </p:cNvPicPr>
          <p:nvPr/>
        </p:nvPicPr>
        <p:blipFill>
          <a:blip r:embed="rId2"/>
          <a:srcRect l="67" r="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2342327"/>
            <a:ext cx="5986272" cy="3252332"/>
          </a:xfrm>
          <a:prstGeom prst="rect">
            <a:avLst/>
          </a:prstGeom>
          <a:solidFill>
            <a:srgbClr val="131513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131513"/>
                </a:solidFill>
                <a:latin typeface="Montserrat Bold"/>
                <a:cs typeface="Montserrat Bold"/>
                <a:sym typeface="Montserrat Bold"/>
              </a:rPr>
              <a:t>05/16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" y="2653223"/>
            <a:ext cx="5364480" cy="18641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Data lands in HDFS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379854"/>
            <a:ext cx="5364480" cy="1030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381"/>
              </a:lnSpc>
            </a:pPr>
            <a:r>
              <a:rPr sz="1722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penguins.csv copied into /user/maria_dev/datasets and verified healthy.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82698"/>
            <a:ext cx="8700211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9DBE8C"/>
                </a:solidFill>
                <a:latin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51584"/>
            <a:ext cx="8700211" cy="10803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6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Hive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55283"/>
            <a:ext cx="5981395" cy="845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381"/>
              </a:lnSpc>
            </a:pPr>
            <a:r>
              <a:rPr sz="21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penguins_db.penguins_raw with NA mapped to NULL.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749808"/>
            <a:ext cx="3915095" cy="2569464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3538728"/>
            <a:ext cx="3915095" cy="2569464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eckimg-kxxo8ynk.jpg"/>
          <p:cNvPicPr>
            <a:picLocks noChangeAspect="1"/>
          </p:cNvPicPr>
          <p:nvPr/>
        </p:nvPicPr>
        <p:blipFill>
          <a:blip r:embed="rId2"/>
          <a:srcRect l="5273" r="5273"/>
          <a:stretch>
            <a:fillRect/>
          </a:stretch>
        </p:blipFill>
        <p:spPr>
          <a:xfrm>
            <a:off x="713232" y="804672"/>
            <a:ext cx="3805367" cy="1837944"/>
          </a:xfrm>
          <a:prstGeom prst="rect">
            <a:avLst/>
          </a:prstGeom>
        </p:spPr>
      </p:pic>
      <p:pic>
        <p:nvPicPr>
          <p:cNvPr id="8" name="Picture 7" descr="deckimg-69fc8gr_.jpg"/>
          <p:cNvPicPr>
            <a:picLocks noChangeAspect="1"/>
          </p:cNvPicPr>
          <p:nvPr/>
        </p:nvPicPr>
        <p:blipFill>
          <a:blip r:embed="rId3"/>
          <a:srcRect l="5273" r="5273"/>
          <a:stretch>
            <a:fillRect/>
          </a:stretch>
        </p:blipFill>
        <p:spPr>
          <a:xfrm>
            <a:off x="713232" y="3593592"/>
            <a:ext cx="3805367" cy="1837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07/16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34056"/>
            <a:ext cx="3805367" cy="22052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360" b="0">
                <a:solidFill>
                  <a:srgbClr val="131513"/>
                </a:solidFill>
                <a:latin typeface="Montserrat Bold"/>
                <a:cs typeface="Montserrat Bold"/>
                <a:sym typeface="Montserrat Bold"/>
              </a:rPr>
              <a:t>Records by species and island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522976"/>
            <a:ext cx="3805367" cy="22052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360" b="0">
                <a:solidFill>
                  <a:srgbClr val="131513"/>
                </a:solidFill>
                <a:latin typeface="Montserrat Bold"/>
                <a:cs typeface="Montserrat Bold"/>
                <a:sym typeface="Montserrat Bold"/>
              </a:rPr>
              <a:t>Average mass and flipper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7247" y="2764048"/>
            <a:ext cx="5546385" cy="7625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88496"/>
              </a:lnSpc>
            </a:pPr>
            <a:r>
              <a:rPr sz="4755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HiveQL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3224207"/>
            <a:ext cx="782239" cy="25603"/>
          </a:xfrm>
          <a:prstGeom prst="rect">
            <a:avLst/>
          </a:prstGeom>
          <a:solidFill>
            <a:srgbClr val="9D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468624" y="3224207"/>
            <a:ext cx="782239" cy="25603"/>
          </a:xfrm>
          <a:prstGeom prst="rect">
            <a:avLst/>
          </a:prstGeom>
          <a:solidFill>
            <a:srgbClr val="9D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278880" y="3224207"/>
            <a:ext cx="782239" cy="25603"/>
          </a:xfrm>
          <a:prstGeom prst="rect">
            <a:avLst/>
          </a:prstGeom>
          <a:solidFill>
            <a:srgbClr val="9D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089136" y="3224207"/>
            <a:ext cx="782239" cy="25603"/>
          </a:xfrm>
          <a:prstGeom prst="rect">
            <a:avLst/>
          </a:prstGeom>
          <a:solidFill>
            <a:srgbClr val="9D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08/16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0852"/>
            <a:ext cx="7830190" cy="932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43663"/>
            <a:ext cx="2444496" cy="11438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200" b="0">
                <a:solidFill>
                  <a:srgbClr val="9DBE8C"/>
                </a:solidFill>
                <a:latin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01939"/>
            <a:ext cx="2444496" cy="3593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9AA294"/>
                </a:solidFill>
                <a:latin typeface="Public Sans"/>
                <a:cs typeface="Public Sans"/>
                <a:sym typeface="Public Sans"/>
              </a:rPr>
              <a:t>bill_length_mm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8624" y="3443663"/>
            <a:ext cx="2444496" cy="11438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200" b="0">
                <a:solidFill>
                  <a:srgbClr val="9DBE8C"/>
                </a:solidFill>
                <a:latin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8624" y="4501939"/>
            <a:ext cx="2444496" cy="3593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9AA294"/>
                </a:solidFill>
                <a:latin typeface="Public Sans"/>
                <a:cs typeface="Public Sans"/>
                <a:sym typeface="Public Sans"/>
              </a:rPr>
              <a:t>flipper_length_mm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880" y="3443663"/>
            <a:ext cx="2444496" cy="11438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200" b="0">
                <a:solidFill>
                  <a:srgbClr val="9DBE8C"/>
                </a:solidFill>
                <a:latin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880" y="4501939"/>
            <a:ext cx="2444496" cy="3593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9AA294"/>
                </a:solidFill>
                <a:latin typeface="Public Sans"/>
                <a:cs typeface="Public Sans"/>
                <a:sym typeface="Public Sans"/>
              </a:rPr>
              <a:t>body_mass_g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3443663"/>
            <a:ext cx="2444496" cy="11438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200" b="0">
                <a:solidFill>
                  <a:srgbClr val="9DBE8C"/>
                </a:solidFill>
                <a:latin typeface="Montserrat"/>
                <a:cs typeface="Montserrat"/>
                <a:sym typeface="Montserrat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4501939"/>
            <a:ext cx="2444496" cy="3593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9AA294"/>
                </a:solidFill>
                <a:latin typeface="Public Sans"/>
                <a:cs typeface="Public Sans"/>
                <a:sym typeface="Public Sans"/>
              </a:rPr>
              <a:t>sex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09/16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82698"/>
            <a:ext cx="8700211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9DBE8C"/>
                </a:solidFill>
                <a:latin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51584"/>
            <a:ext cx="8700211" cy="10803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6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ELT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55283"/>
            <a:ext cx="5981395" cy="845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381"/>
              </a:lnSpc>
            </a:pPr>
            <a:r>
              <a:rPr sz="21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Jupyter reads HDFS through WebHDFS InsecureClient.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3213703"/>
            <a:ext cx="1043970" cy="18288"/>
          </a:xfrm>
          <a:prstGeom prst="rect">
            <a:avLst/>
          </a:prstGeom>
          <a:solidFill>
            <a:srgbClr val="9D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454908" y="3213703"/>
            <a:ext cx="1043970" cy="18288"/>
          </a:xfrm>
          <a:prstGeom prst="rect">
            <a:avLst/>
          </a:prstGeom>
          <a:solidFill>
            <a:srgbClr val="9D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251448" y="3213703"/>
            <a:ext cx="1043970" cy="18288"/>
          </a:xfrm>
          <a:prstGeom prst="rect">
            <a:avLst/>
          </a:prstGeom>
          <a:solidFill>
            <a:srgbClr val="9D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047988" y="3213703"/>
            <a:ext cx="1043970" cy="18288"/>
          </a:xfrm>
          <a:prstGeom prst="rect">
            <a:avLst/>
          </a:prstGeom>
          <a:solidFill>
            <a:srgbClr val="9D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10/16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1947"/>
            <a:ext cx="7830190" cy="932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Cleaning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77286"/>
            <a:ext cx="2485644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9DBE8C"/>
                </a:solidFill>
                <a:latin typeface="Montserrat Bold"/>
                <a:cs typeface="Montserrat Bold"/>
                <a:sym typeface="Montserrat Bold"/>
              </a:rPr>
              <a:t>DROP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60007"/>
            <a:ext cx="2485644" cy="14373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2 rows with no measurements removed (344 to 342)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4908" y="2977286"/>
            <a:ext cx="2485644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9DBE8C"/>
                </a:solidFill>
                <a:latin typeface="Montserrat Bold"/>
                <a:cs typeface="Montserrat Bold"/>
                <a:sym typeface="Montserrat Bold"/>
              </a:rPr>
              <a:t>IMPUTE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908" y="3360007"/>
            <a:ext cx="2485644" cy="7186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Numeric gaps filled with species 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1448" y="2977286"/>
            <a:ext cx="2485644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9DBE8C"/>
                </a:solidFill>
                <a:latin typeface="Montserrat Bold"/>
                <a:cs typeface="Montserrat Bold"/>
                <a:sym typeface="Montserrat Bold"/>
              </a:rPr>
              <a:t>TIDY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1448" y="3360007"/>
            <a:ext cx="2485644" cy="7186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Missing sex set to unknown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7988" y="2977286"/>
            <a:ext cx="2485644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9DBE8C"/>
                </a:solidFill>
                <a:latin typeface="Montserrat Bold"/>
                <a:cs typeface="Montserrat Bold"/>
                <a:sym typeface="Montserrat Bold"/>
              </a:rPr>
              <a:t>CONVERT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7988" y="3360007"/>
            <a:ext cx="2485644" cy="17966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body_mass_kg added, file uploaded to datasets/clean in HDFS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img-gqeiwkqe.jpg"/>
          <p:cNvPicPr>
            <a:picLocks noChangeAspect="1"/>
          </p:cNvPicPr>
          <p:nvPr/>
        </p:nvPicPr>
        <p:blipFill>
          <a:blip r:embed="rId2"/>
          <a:srcRect l="85" r="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2342327"/>
            <a:ext cx="5986272" cy="2951029"/>
          </a:xfrm>
          <a:prstGeom prst="rect">
            <a:avLst/>
          </a:prstGeom>
          <a:solidFill>
            <a:srgbClr val="131513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131513"/>
                </a:solidFill>
                <a:latin typeface="Montserrat Bold"/>
                <a:cs typeface="Montserrat Bold"/>
                <a:sym typeface="Montserrat Bold"/>
              </a:rPr>
              <a:t>11/16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" y="2653223"/>
            <a:ext cx="5364480" cy="18641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Clean data back in HDFS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379854"/>
            <a:ext cx="5364480" cy="6869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381"/>
              </a:lnSpc>
            </a:pPr>
            <a:r>
              <a:rPr sz="1722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Notebook uploads the cleaned file and reads it back to verify.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12/16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82698"/>
            <a:ext cx="8700211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9DBE8C"/>
                </a:solidFill>
                <a:latin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51584"/>
            <a:ext cx="8700211" cy="10803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6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PySpark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55283"/>
            <a:ext cx="5981395" cy="845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381"/>
              </a:lnSpc>
            </a:pPr>
            <a:r>
              <a:rPr sz="2100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spark-submit reads, filters, sorts, caches and writes JSON.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img-3hsbkqc_.jpg"/>
          <p:cNvPicPr>
            <a:picLocks noChangeAspect="1"/>
          </p:cNvPicPr>
          <p:nvPr/>
        </p:nvPicPr>
        <p:blipFill>
          <a:blip r:embed="rId2"/>
          <a:srcRect t="20" b="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2342327"/>
            <a:ext cx="5986272" cy="2951029"/>
          </a:xfrm>
          <a:prstGeom prst="rect">
            <a:avLst/>
          </a:prstGeom>
          <a:solidFill>
            <a:srgbClr val="131513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131513"/>
                </a:solidFill>
                <a:latin typeface="Montserrat Bold"/>
                <a:cs typeface="Montserrat Bold"/>
                <a:sym typeface="Montserrat Bold"/>
              </a:rPr>
              <a:t>13/16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" y="2653223"/>
            <a:ext cx="5364480" cy="18641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Spark job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379854"/>
            <a:ext cx="5364480" cy="6869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381"/>
              </a:lnSpc>
            </a:pPr>
            <a:r>
              <a:rPr sz="1722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Schema printed, 177 heavy penguins kept, cached and saved partitioned by species.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img-ei0kdvad.jpg"/>
          <p:cNvPicPr>
            <a:picLocks noChangeAspect="1"/>
          </p:cNvPicPr>
          <p:nvPr/>
        </p:nvPicPr>
        <p:blipFill>
          <a:blip r:embed="rId2"/>
          <a:srcRect l="67" r="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2342327"/>
            <a:ext cx="5986272" cy="2951029"/>
          </a:xfrm>
          <a:prstGeom prst="rect">
            <a:avLst/>
          </a:prstGeom>
          <a:solidFill>
            <a:srgbClr val="131513">
              <a:alpha val="9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131513"/>
                </a:solidFill>
                <a:latin typeface="Montserrat Bold"/>
                <a:cs typeface="Montserrat Bold"/>
                <a:sym typeface="Montserrat Bold"/>
              </a:rPr>
              <a:t>14/16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" y="2653223"/>
            <a:ext cx="5364480" cy="18641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Partitioned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379854"/>
            <a:ext cx="5364480" cy="6869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381"/>
              </a:lnSpc>
            </a:pPr>
            <a:r>
              <a:rPr sz="1722" b="0">
                <a:solidFill>
                  <a:srgbClr val="E9E6DD"/>
                </a:solidFill>
                <a:latin typeface="Public Sans"/>
                <a:cs typeface="Public Sans"/>
                <a:sym typeface="Public Sans"/>
              </a:rPr>
              <a:t>species=Adelie, Chinstrap and Gentoo folders under spark/output/penguins.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eckimg-9qw1u1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05" y="2332773"/>
            <a:ext cx="5220127" cy="21924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15/16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4785116" cy="18641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What the data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49591"/>
            <a:ext cx="4785116" cy="7186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9AA294"/>
                </a:solidFill>
                <a:latin typeface="Public Sans"/>
                <a:cs typeface="Public Sans"/>
                <a:sym typeface="Public Sans"/>
              </a:rPr>
              <a:t>Gentoo are the heaviest at 5.08 kg with 217 mm flippers.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926592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875520" y="6364224"/>
            <a:ext cx="2316480" cy="16459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2000" cy="10973"/>
          </a:xfrm>
          <a:prstGeom prst="rect">
            <a:avLst/>
          </a:prstGeom>
          <a:solidFill>
            <a:srgbClr val="E9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1455725"/>
            <a:ext cx="1005840" cy="25603"/>
          </a:xfrm>
          <a:prstGeom prst="rect">
            <a:avLst/>
          </a:prstGeom>
          <a:solidFill>
            <a:srgbClr val="9D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90632" y="184343"/>
            <a:ext cx="1143000" cy="1621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91750"/>
              </a:lnSpc>
            </a:pPr>
            <a:r>
              <a:rPr sz="1000" b="0" spc="80">
                <a:solidFill>
                  <a:srgbClr val="E9E6DD"/>
                </a:solidFill>
                <a:latin typeface="Montserrat Bold"/>
                <a:cs typeface="Montserrat Bold"/>
                <a:sym typeface="Montserrat Bold"/>
              </a:rPr>
              <a:t>16/16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66621"/>
            <a:ext cx="8047695" cy="21606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6800" b="0">
                <a:solidFill>
                  <a:srgbClr val="E9E6DD"/>
                </a:solidFill>
                <a:latin typeface="Montserrat"/>
                <a:cs typeface="Montserrat"/>
                <a:sym typeface="Montserrat"/>
              </a:rPr>
              <a:t>Pipeline runs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17987"/>
            <a:ext cx="5981395" cy="12682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381"/>
              </a:lnSpc>
            </a:pPr>
            <a:r>
              <a:rPr sz="2100" b="0">
                <a:solidFill>
                  <a:srgbClr val="9AA294"/>
                </a:solidFill>
                <a:latin typeface="Public Sans"/>
                <a:cs typeface="Public Sans"/>
                <a:sym typeface="Public Sans"/>
              </a:rPr>
              <a:t>Every stage reads from and writes back to HDFS, so each step can be re-run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85232"/>
            <a:ext cx="5209032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9DBE8C"/>
                </a:solidFill>
                <a:latin typeface="Montserrat Bold"/>
                <a:cs typeface="Montserrat Bold"/>
                <a:sym typeface="Montserrat Bold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485073"/>
            <a:ext cx="5209032" cy="3593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9AA294"/>
                </a:solidFill>
                <a:latin typeface="Public Sans"/>
                <a:cs typeface="Public Sans"/>
                <a:sym typeface="Public Sans"/>
              </a:rPr>
              <a:t>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5285232"/>
            <a:ext cx="5209032" cy="17569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1000" b="0" spc="80">
                <a:solidFill>
                  <a:srgbClr val="9DBE8C"/>
                </a:solidFill>
                <a:latin typeface="Montserrat Bold"/>
                <a:cs typeface="Montserrat Bold"/>
                <a:sym typeface="Montserrat Bold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5485073"/>
            <a:ext cx="5209032" cy="3593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476"/>
              </a:lnSpc>
            </a:pPr>
            <a:r>
              <a:rPr sz="1700" b="0">
                <a:solidFill>
                  <a:srgbClr val="9AA294"/>
                </a:solidFill>
                <a:latin typeface="Public Sans"/>
                <a:cs typeface="Public Sans"/>
                <a:sym typeface="Public Sans"/>
              </a:rPr>
              <a:t>Report with screenshots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